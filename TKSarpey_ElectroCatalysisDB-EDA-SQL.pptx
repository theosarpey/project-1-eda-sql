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Noto Serif Display" panose="02020502080505020204" pitchFamily="18" charset="0"/>
      <p:regular r:id="rId12"/>
    </p:embeddedFont>
    <p:embeddedFont>
      <p:font typeface="Noto Serif Display Medium" panose="02020502080505020204" pitchFamily="18" charset="0"/>
      <p:regular r:id="rId13"/>
    </p:embeddedFont>
    <p:embeddedFont>
      <p:font typeface="Radio Canada" pitchFamily="2" charset="77"/>
      <p:regular r:id="rId14"/>
    </p:embeddedFont>
    <p:embeddedFont>
      <p:font typeface="Radio Canada Medium" pitchFamily="2" charset="77"/>
      <p:regular r:id="rId15"/>
    </p:embeddedFont>
    <p:embeddedFont>
      <p:font typeface="Radio Canada Semi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39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C0D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F6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C0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F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500250"/>
            <a:ext cx="9651759" cy="4520109"/>
          </a:xfrm>
          <a:prstGeom prst="roundRect">
            <a:avLst>
              <a:gd name="adj" fmla="val 632"/>
            </a:avLst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041374" y="1828800"/>
            <a:ext cx="949936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ELECTROCATALYSISDB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1374" y="2072580"/>
            <a:ext cx="8889778" cy="2190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88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ElectroCatalysisDB:</a:t>
            </a:r>
            <a:endParaRPr lang="en-US" sz="44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4400" i="1" kern="100" spc="-88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From Cyclic Voltammetry</a:t>
            </a:r>
            <a:endParaRPr lang="en-US" sz="440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4400" i="1" kern="100" spc="-88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Data to Structured SQL-Based Insight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41374" y="4434384"/>
            <a:ext cx="8889778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i="1" kern="100" spc="-22" dirty="0">
                <a:solidFill>
                  <a:srgbClr val="3B355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Building a relational database from Pt and Au cyclic-voltammetry measurements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374" y="5230118"/>
            <a:ext cx="8889778" cy="534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300"/>
              </a:spcAft>
              <a:buNone/>
            </a:pPr>
            <a:r>
              <a:rPr lang="en-US" sz="1100" kern="100" spc="5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Python · Pandas · SQLite · SQL · Matplotlib · Seaborn · Jupyter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5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Theophilus Kobina Sarpey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82600"/>
            <a:ext cx="111757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The Problem: Scientific Data Are Not Analysis-Ready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4185" y="1057077"/>
            <a:ext cx="5073126" cy="501392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38179" y="1285677"/>
            <a:ext cx="2742139" cy="26918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952476" y="1336477"/>
            <a:ext cx="312313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12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Raw Scientific Data from echemdb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1631057"/>
            <a:ext cx="4565139" cy="56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Materials: Ag, Au, Co, Cu, Fe, Ir, Ni, Pb, Pd, Pt, Rh, Ru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8179" y="2336899"/>
            <a:ext cx="4565139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Different fields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Different studies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Different metadata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Different conventions/representations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Varied Experimental conditions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Non-uniform measurement parameters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5998" y="1285677"/>
            <a:ext cx="5289914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Heterogeneous metadata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215998" y="1706860"/>
            <a:ext cx="5289914" cy="132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→ Multiple levels of data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(One experiment →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thousands of CV points) →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Need for structure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5998" y="3191173"/>
            <a:ext cx="1745611" cy="38100"/>
          </a:xfrm>
          <a:prstGeom prst="roundRect">
            <a:avLst>
              <a:gd name="adj" fmla="val 49999"/>
            </a:avLst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215998" y="3448348"/>
            <a:ext cx="5289914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Data-Science Problem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15998" y="3869531"/>
            <a:ext cx="5289914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How do we turn this into something we can query reliably?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5998" y="4703763"/>
            <a:ext cx="5289914" cy="113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echemdb → Python extraction → Clean → Normalize → Relational table → Database → SQLite → SQL Queries/Analysis → Python visualization → Interpretation/Insight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84185" y="6242447"/>
            <a:ext cx="116075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5" dirty="0">
                <a:solidFill>
                  <a:srgbClr val="6E6785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The datasets on the echemdb.org website are licensed under CC BY 4.0.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41822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Dataset → Scope → 207 Measurements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797248"/>
            <a:ext cx="10972526" cy="329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i="1" kern="100" spc="-22" dirty="0">
                <a:solidFill>
                  <a:srgbClr val="3B355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Filtering = reproducible data selection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91978"/>
          <a:ext cx="6400640" cy="2285942"/>
        </p:xfrm>
        <a:graphic>
          <a:graphicData uri="http://schemas.openxmlformats.org/drawingml/2006/table">
            <a:tbl>
              <a:tblPr/>
              <a:tblGrid>
                <a:gridCol w="320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echemdb v 0.9.2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93 references, 358 entries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 + Au electrodes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62 references, 270 entries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Single-crystal working electrodes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Orientations: (100), (110), (111)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FINAL DATASET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207 CV measurements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704,968 digitized CV points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4918" y="2263378"/>
            <a:ext cx="4267192" cy="2743200"/>
          </a:xfrm>
          <a:prstGeom prst="rect">
            <a:avLst/>
          </a:prstGeom>
          <a:solidFill>
            <a:srgbClr val="D9D4E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543512" y="2491978"/>
            <a:ext cx="3810004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Why this scope?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543512" y="2913162"/>
            <a:ext cx="3810004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Pt/Au + single crystals + three orientations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The final dataset represents the literature records available in echemdb that match the project scope.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1000"/>
            <a:ext cx="419089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From Raw Data to a Relational Database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189" y="1475978"/>
            <a:ext cx="4190895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The key modeling decision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189" y="1932087"/>
            <a:ext cx="4190895" cy="1095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88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One row ≠ one CV point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189" y="3265388"/>
            <a:ext cx="1382976" cy="38100"/>
          </a:xfrm>
          <a:prstGeom prst="roundRect">
            <a:avLst>
              <a:gd name="adj" fmla="val 49999"/>
            </a:avLst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5511662" y="254000"/>
            <a:ext cx="1685387" cy="26918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625959" y="304800"/>
            <a:ext cx="206637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12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Relational structure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662" y="694630"/>
            <a:ext cx="5714857" cy="3810000"/>
          </a:xfrm>
          <a:prstGeom prst="rect">
            <a:avLst/>
          </a:prstGeom>
        </p:spPr>
      </p:pic>
      <p:sp>
        <p:nvSpPr>
          <p:cNvPr id="22" name="Shape 9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10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8691D746-5DA5-6B98-09B2-DC150BCB11B5}"/>
              </a:ext>
            </a:extLst>
          </p:cNvPr>
          <p:cNvSpPr/>
          <p:nvPr/>
        </p:nvSpPr>
        <p:spPr>
          <a:xfrm>
            <a:off x="457189" y="5047258"/>
            <a:ext cx="2584385" cy="1053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96984937-1ADA-6D16-3938-9E55C4BF4D26}"/>
              </a:ext>
            </a:extLst>
          </p:cNvPr>
          <p:cNvSpPr/>
          <p:nvPr/>
        </p:nvSpPr>
        <p:spPr>
          <a:xfrm>
            <a:off x="660383" y="5097363"/>
            <a:ext cx="217799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2E1A7A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1 measurement</a:t>
            </a:r>
            <a:endParaRPr lang="en-US" sz="19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142EF21D-60E2-FAF5-D1B8-30EBE3CAD5B5}"/>
              </a:ext>
            </a:extLst>
          </p:cNvPr>
          <p:cNvSpPr/>
          <p:nvPr/>
        </p:nvSpPr>
        <p:spPr>
          <a:xfrm>
            <a:off x="558786" y="5824042"/>
            <a:ext cx="23811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E1A7A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Measurement metadata</a:t>
            </a:r>
            <a:endParaRPr lang="en-US" sz="15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5457BD-119B-DF5A-AA57-CEAA4BA185EC}"/>
              </a:ext>
            </a:extLst>
          </p:cNvPr>
          <p:cNvSpPr txBox="1"/>
          <p:nvPr/>
        </p:nvSpPr>
        <p:spPr>
          <a:xfrm>
            <a:off x="937871" y="5419873"/>
            <a:ext cx="1329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/>
              <a:t>1,773 CV points</a:t>
            </a: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6B236BC6-BC6C-796E-799E-536F6C2BC47E}"/>
              </a:ext>
            </a:extLst>
          </p:cNvPr>
          <p:cNvSpPr/>
          <p:nvPr/>
        </p:nvSpPr>
        <p:spPr>
          <a:xfrm>
            <a:off x="3420658" y="5062188"/>
            <a:ext cx="2584385" cy="1053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BDA7BBCB-F1ED-63C1-9DDD-90D12ADF02CF}"/>
              </a:ext>
            </a:extLst>
          </p:cNvPr>
          <p:cNvSpPr/>
          <p:nvPr/>
        </p:nvSpPr>
        <p:spPr>
          <a:xfrm>
            <a:off x="4008963" y="5135214"/>
            <a:ext cx="217799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2E1A7A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Pt(111)</a:t>
            </a:r>
            <a:endParaRPr lang="en-US" sz="19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8B3DFB61-DF5B-D11C-D9EA-25FE8C6F4CA2}"/>
              </a:ext>
            </a:extLst>
          </p:cNvPr>
          <p:cNvSpPr/>
          <p:nvPr/>
        </p:nvSpPr>
        <p:spPr>
          <a:xfrm>
            <a:off x="3714657" y="5767461"/>
            <a:ext cx="23811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E1A7A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Material + orientation</a:t>
            </a:r>
            <a:endParaRPr lang="en-US" sz="1500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CF3B3B24-A935-6AB0-06B8-DD89B6CDFC23}"/>
              </a:ext>
            </a:extLst>
          </p:cNvPr>
          <p:cNvSpPr/>
          <p:nvPr/>
        </p:nvSpPr>
        <p:spPr>
          <a:xfrm>
            <a:off x="6462577" y="5062188"/>
            <a:ext cx="2584385" cy="1053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AF20A115-B2A2-9061-599B-C2B22FCDA7CB}"/>
              </a:ext>
            </a:extLst>
          </p:cNvPr>
          <p:cNvSpPr/>
          <p:nvPr/>
        </p:nvSpPr>
        <p:spPr>
          <a:xfrm>
            <a:off x="457189" y="3557962"/>
            <a:ext cx="388818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Separate experimental identity from experimental observations.</a:t>
            </a:r>
            <a:endParaRPr lang="en-US" sz="150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F2C0F9D1-AD64-495F-AD78-E064FC0B16F9}"/>
              </a:ext>
            </a:extLst>
          </p:cNvPr>
          <p:cNvSpPr/>
          <p:nvPr/>
        </p:nvSpPr>
        <p:spPr>
          <a:xfrm>
            <a:off x="6868966" y="5097363"/>
            <a:ext cx="217799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2E1A7A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0.1 M </a:t>
            </a:r>
            <a:r>
              <a:rPr lang="en-US" sz="1900" dirty="0" err="1">
                <a:solidFill>
                  <a:srgbClr val="2E1A7A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HClO</a:t>
            </a:r>
            <a:r>
              <a:rPr lang="en-US" sz="1900" dirty="0">
                <a:solidFill>
                  <a:srgbClr val="2E1A7A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₄</a:t>
            </a:r>
            <a:endParaRPr lang="en-US" sz="19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FC3D9DF1-3C9B-56B6-CC16-8E0120E1A3D9}"/>
              </a:ext>
            </a:extLst>
          </p:cNvPr>
          <p:cNvSpPr/>
          <p:nvPr/>
        </p:nvSpPr>
        <p:spPr>
          <a:xfrm>
            <a:off x="6767369" y="5824042"/>
            <a:ext cx="23811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E1A7A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Electrolyte condition</a:t>
            </a:r>
            <a:endParaRPr lang="en-US" sz="15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8C3E4A78-6676-AD59-FB7A-A903B227B984}"/>
              </a:ext>
            </a:extLst>
          </p:cNvPr>
          <p:cNvSpPr/>
          <p:nvPr/>
        </p:nvSpPr>
        <p:spPr>
          <a:xfrm>
            <a:off x="9413692" y="5082024"/>
            <a:ext cx="2584385" cy="1053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ECD3015-0065-9B9A-FFE0-229DD59EA11C}"/>
              </a:ext>
            </a:extLst>
          </p:cNvPr>
          <p:cNvSpPr/>
          <p:nvPr/>
        </p:nvSpPr>
        <p:spPr>
          <a:xfrm>
            <a:off x="9820081" y="5135213"/>
            <a:ext cx="217799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2E1A7A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50 mV/s</a:t>
            </a:r>
            <a:endParaRPr lang="en-US" sz="19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439ED594-EA39-C2C5-65AD-1C2B58A24A7A}"/>
              </a:ext>
            </a:extLst>
          </p:cNvPr>
          <p:cNvSpPr/>
          <p:nvPr/>
        </p:nvSpPr>
        <p:spPr>
          <a:xfrm>
            <a:off x="9718484" y="5838972"/>
            <a:ext cx="23811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2E1A7A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Experimental parameter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82600"/>
            <a:ext cx="111757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Cleaning, Transformation &amp;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4185" y="1057077"/>
            <a:ext cx="3521979" cy="4013696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812780" y="1285677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4185" y="1552377"/>
            <a:ext cx="3521979" cy="1905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812780" y="1685727"/>
            <a:ext cx="3064791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Cleaning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780" y="2106910"/>
            <a:ext cx="3064791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Raw metadata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Standardized text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Canonical electrolyte conditions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Clean concentration fields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0957" y="1057077"/>
            <a:ext cx="3522078" cy="4013696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639551" y="1285677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10957" y="1552377"/>
            <a:ext cx="3521979" cy="1905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639551" y="1685727"/>
            <a:ext cx="3064890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Transformation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39551" y="2106910"/>
            <a:ext cx="3064890" cy="182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Scan_rate_value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Scan_rate_category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≤ 10 mV/s → Low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&gt; 10 to ≤ 50 → Medium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&gt; 50 to ≤ 100 → High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37828" y="1057077"/>
            <a:ext cx="3522078" cy="4013696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8466422" y="1285677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37828" y="1552377"/>
            <a:ext cx="3521979" cy="1905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8466422" y="1685727"/>
            <a:ext cx="3064890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Normalization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66422" y="2106910"/>
            <a:ext cx="329348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Repeated categorical information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6422" y="2554585"/>
            <a:ext cx="3064890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Lookup tables: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6422" y="2930823"/>
            <a:ext cx="306489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materials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orientations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sources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electrolytes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66422" y="4289723"/>
            <a:ext cx="306489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IDs stored as foreign keys in measurements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4184" y="5242223"/>
            <a:ext cx="1070924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Missing scientific metadata were retained as missing information, rather than imputed values that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</a:rPr>
              <a:t>Were never reported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30271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RQ1 - What Does the Dataset Represent?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3387" y="987227"/>
            <a:ext cx="11302717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i="1" kern="100" spc="-22" dirty="0">
                <a:solidFill>
                  <a:srgbClr val="3B355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How are Pt &amp; Au single-crystal CV measurements distributed across crystallographic orientations?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851577" y="1444452"/>
            <a:ext cx="6232171" cy="4880372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441679" y="1533305"/>
            <a:ext cx="4111522" cy="26918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540808" y="1617554"/>
            <a:ext cx="449251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12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SQL → aggregated dataset → Pandas → visualization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70250" y="5101332"/>
            <a:ext cx="1572677" cy="38100"/>
          </a:xfrm>
          <a:prstGeom prst="roundRect">
            <a:avLst>
              <a:gd name="adj" fmla="val 49999"/>
            </a:avLst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277833" y="5998065"/>
            <a:ext cx="4765853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The distribution describes dataset </a:t>
            </a:r>
            <a:r>
              <a:rPr lang="en-US" sz="1900" dirty="0" err="1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repre</a:t>
            </a: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-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US" sz="1900" dirty="0" err="1">
                <a:solidFill>
                  <a:srgbClr val="3B355C"/>
                </a:solidFill>
                <a:latin typeface="Radio Canada SemiBold" pitchFamily="34" charset="0"/>
              </a:rPr>
              <a:t>sentation</a:t>
            </a: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</a:rPr>
              <a:t>, not intrinsic electrochemical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</a:rPr>
              <a:t>activity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6</a:t>
            </a:r>
            <a:endParaRPr lang="en-US" sz="1100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B97908A-2926-9472-0DA1-0F15A4C99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106" y="2054118"/>
            <a:ext cx="5966878" cy="3960000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3A6589CE-004A-9C3D-0E95-14CC6B9274D8}"/>
              </a:ext>
            </a:extLst>
          </p:cNvPr>
          <p:cNvSpPr/>
          <p:nvPr/>
        </p:nvSpPr>
        <p:spPr>
          <a:xfrm>
            <a:off x="0" y="1833685"/>
            <a:ext cx="5743325" cy="4037088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4DEB520-A008-9BDA-F6A3-209B0825DFB0}"/>
              </a:ext>
            </a:extLst>
          </p:cNvPr>
          <p:cNvSpPr/>
          <p:nvPr/>
        </p:nvSpPr>
        <p:spPr>
          <a:xfrm>
            <a:off x="1262408" y="1990125"/>
            <a:ext cx="305060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12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Aggregated measurement counts</a:t>
            </a:r>
            <a:endParaRPr lang="en-US" sz="1200" dirty="0"/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594B98FD-E820-596C-E4F3-91DE977D1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524396"/>
              </p:ext>
            </p:extLst>
          </p:nvPr>
        </p:nvGraphicFramePr>
        <p:xfrm>
          <a:off x="277833" y="2433289"/>
          <a:ext cx="5465492" cy="3431522"/>
        </p:xfrm>
        <a:graphic>
          <a:graphicData uri="http://schemas.openxmlformats.org/drawingml/2006/table">
            <a:tbl>
              <a:tblPr/>
              <a:tblGrid>
                <a:gridCol w="1382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3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material_name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orientation_name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measurement_count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index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2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100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8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2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3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31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2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2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100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3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2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9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4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9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95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5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30271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RQ2 - How Do Experimental Conditions Vary?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3387" y="987227"/>
            <a:ext cx="11302717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i="1" kern="100" spc="-22" dirty="0">
                <a:solidFill>
                  <a:srgbClr val="3B355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How do reported scan rates vary across Pt and Au single-crystal electrodes and their crystallographic orientations?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387" y="2011561"/>
            <a:ext cx="397668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" dirty="0">
                <a:solidFill>
                  <a:srgbClr val="6E6785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Raw: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387" y="2290266"/>
            <a:ext cx="397668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10, 20, 50, 100, 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387" y="2732782"/>
            <a:ext cx="397668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" dirty="0">
                <a:solidFill>
                  <a:srgbClr val="6E6785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Feature engineering: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3387" y="3011488"/>
            <a:ext cx="397668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Low | Medium | High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387" y="3454003"/>
            <a:ext cx="397668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" dirty="0">
                <a:solidFill>
                  <a:srgbClr val="6E6785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SQL: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3387" y="3732709"/>
            <a:ext cx="3976687" cy="132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GROUP BY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Material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Orientation</a:t>
            </a:r>
            <a:endParaRPr lang="en-US" sz="18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Scan_rate_category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3387" y="5169396"/>
            <a:ext cx="397668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11" dirty="0">
                <a:solidFill>
                  <a:srgbClr val="6E6785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Python: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3387" y="5448102"/>
            <a:ext cx="397668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67163" y="1782961"/>
            <a:ext cx="6868941" cy="4225131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 dirty="0"/>
          </a:p>
        </p:txBody>
      </p:sp>
      <p:sp>
        <p:nvSpPr>
          <p:cNvPr id="13" name="Shape 11"/>
          <p:cNvSpPr/>
          <p:nvPr/>
        </p:nvSpPr>
        <p:spPr>
          <a:xfrm>
            <a:off x="5195758" y="1960761"/>
            <a:ext cx="1741047" cy="26918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5310055" y="2011561"/>
            <a:ext cx="2122038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12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Scan-rate categories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758" y="2341066"/>
            <a:ext cx="6411752" cy="27865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95758" y="5203825"/>
            <a:ext cx="641175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5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Experimental scan-rate conditions vary across the material-orientation combinations represented in the dataset.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5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2DE4FB-7E24-9218-99E7-B2A3E834480F}"/>
              </a:ext>
            </a:extLst>
          </p:cNvPr>
          <p:cNvSpPr txBox="1"/>
          <p:nvPr/>
        </p:nvSpPr>
        <p:spPr>
          <a:xfrm>
            <a:off x="439387" y="5904389"/>
            <a:ext cx="644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/>
              <a:t>Scan rate is an experimental condition, not a performance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76200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RQ2 - How Do Experimental Conditions Vary?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0990" y="631627"/>
            <a:ext cx="11429714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i="1" kern="100" spc="-22" dirty="0">
                <a:solidFill>
                  <a:srgbClr val="3B355C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How do reported scan rates vary across Pt and Au single-crystal electrodes and their crystallographic orientations?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0990" y="1427361"/>
            <a:ext cx="11429714" cy="416173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07987" y="1478161"/>
            <a:ext cx="3243479" cy="269180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22284" y="1528961"/>
            <a:ext cx="362446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12" dirty="0">
                <a:solidFill>
                  <a:srgbClr val="3B355C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Material · orientation · scan-rate category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858466"/>
          <a:ext cx="11175721" cy="3922776"/>
        </p:xfrm>
        <a:graphic>
          <a:graphicData uri="http://schemas.openxmlformats.org/drawingml/2006/table">
            <a:tbl>
              <a:tblPr/>
              <a:tblGrid>
                <a:gridCol w="1005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4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2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index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material_name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orientation_name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scan_rate_category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measurement_count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100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low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8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low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2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medium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2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3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high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9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4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low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54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5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Au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medium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18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6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100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medium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7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low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8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medium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8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9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high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2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10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low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2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Pt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111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medium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B355C"/>
                          </a:solidFill>
                          <a:latin typeface="Radio Canada" pitchFamily="34" charset="0"/>
                          <a:ea typeface="Radio Canada" pitchFamily="34" charset="-122"/>
                          <a:cs typeface="Radio Canada" pitchFamily="34" charset="-120"/>
                        </a:rPr>
                        <a:t>92</a:t>
                      </a:r>
                      <a:endParaRPr lang="en-US" sz="1500" dirty="0">
                        <a:latin typeface="Radio Canada" charset="0"/>
                        <a:ea typeface="Radio Canada" charset="0"/>
                        <a:cs typeface="Radio Canada" charset="0"/>
                      </a:endParaRPr>
                    </a:p>
                  </a:txBody>
                  <a:tcPr marL="101598" marR="101598" marT="36576" marB="36576" anchor="ctr">
                    <a:lnL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B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0990" y="5760541"/>
            <a:ext cx="1181070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Experimental scan-rate conditions vary across the material-orientation combinations represented in the dataset.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80990" y="6255841"/>
            <a:ext cx="3771806" cy="38100"/>
          </a:xfrm>
          <a:prstGeom prst="roundRect">
            <a:avLst>
              <a:gd name="adj" fmla="val 49999"/>
            </a:avLst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7"/>
          <p:cNvSpPr/>
          <p:nvPr/>
        </p:nvSpPr>
        <p:spPr>
          <a:xfrm>
            <a:off x="380990" y="6513016"/>
            <a:ext cx="1181070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Raw values become queryable categories: low, medium and high.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11498273" y="6451898"/>
            <a:ext cx="69342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124922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34" dirty="0">
                <a:solidFill>
                  <a:srgbClr val="3B355C"/>
                </a:solidFill>
                <a:latin typeface="Noto Serif Display Medium" pitchFamily="34" charset="0"/>
                <a:ea typeface="Noto Serif Display Medium" pitchFamily="34" charset="-122"/>
                <a:cs typeface="Noto Serif Display Medium" pitchFamily="34" charset="-120"/>
              </a:rPr>
              <a:t>Validation, Data Quality &amp; What We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3387" y="1234877"/>
            <a:ext cx="6492018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Database validation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33387" y="1656060"/>
            <a:ext cx="6492018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207 measurements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704,968 CV points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0 FK errors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Integrity: OK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3387" y="3075285"/>
            <a:ext cx="6492018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Data quality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3387" y="3496469"/>
            <a:ext cx="649201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Current metadata are heterogeneous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Raw current and current density are not directly comparable across all records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Missing metadata were retained rather than invented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30098" y="1006277"/>
            <a:ext cx="4328210" cy="4278015"/>
          </a:xfrm>
          <a:prstGeom prst="rect">
            <a:avLst/>
          </a:prstGeom>
          <a:solidFill>
            <a:srgbClr val="9FB8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7634890" y="1311077"/>
            <a:ext cx="371862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What did I learn?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34890" y="1732260"/>
            <a:ext cx="3718626" cy="1914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Good scientific data analysis requires both domain knowledge and data engineering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152888" y="6369744"/>
            <a:ext cx="11124922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900" dirty="0">
                <a:solidFill>
                  <a:srgbClr val="3B355C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Thank you!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0" y="6248400"/>
            <a:ext cx="12191695" cy="9525"/>
          </a:xfrm>
          <a:prstGeom prst="rect">
            <a:avLst/>
          </a:prstGeom>
          <a:solidFill>
            <a:srgbClr val="3B355C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1414435" y="6451898"/>
            <a:ext cx="77726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B355C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EC9C0-FBC7-5BBE-1071-8995EE917F91}"/>
              </a:ext>
            </a:extLst>
          </p:cNvPr>
          <p:cNvSpPr txBox="1"/>
          <p:nvPr/>
        </p:nvSpPr>
        <p:spPr>
          <a:xfrm>
            <a:off x="403762" y="4911725"/>
            <a:ext cx="6507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/>
              <a:t>Reproducible pipeline</a:t>
            </a:r>
          </a:p>
          <a:p>
            <a:r>
              <a:rPr lang="en-DE" dirty="0"/>
              <a:t>The main result is a reproducible pipeline that takes heterogeneous</a:t>
            </a:r>
          </a:p>
          <a:p>
            <a:r>
              <a:rPr lang="en-GB" dirty="0"/>
              <a:t>S</a:t>
            </a:r>
            <a:r>
              <a:rPr lang="en-DE" dirty="0"/>
              <a:t>cientific data and turns it into structured, queryable data.</a:t>
            </a:r>
          </a:p>
          <a:p>
            <a:endParaRPr lang="en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785</Words>
  <Application>Microsoft Macintosh PowerPoint</Application>
  <PresentationFormat>Widescreen</PresentationFormat>
  <Paragraphs>232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Radio Canada</vt:lpstr>
      <vt:lpstr>Radio Canada Medium</vt:lpstr>
      <vt:lpstr>Noto Serif Display Medium</vt:lpstr>
      <vt:lpstr>Noto Serif Display</vt:lpstr>
      <vt:lpstr>Radio Canada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Vivian Augusta Sarpey</cp:lastModifiedBy>
  <cp:revision>8</cp:revision>
  <dcterms:created xsi:type="dcterms:W3CDTF">2026-10-02T08:20:51Z</dcterms:created>
  <dcterms:modified xsi:type="dcterms:W3CDTF">2026-10-02T09:53:25Z</dcterms:modified>
</cp:coreProperties>
</file>